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Hanken Grotesk Medium"/>
      <p:regular r:id="rId16"/>
      <p:bold r:id="rId17"/>
      <p:italic r:id="rId18"/>
      <p:boldItalic r:id="rId19"/>
    </p:embeddedFont>
    <p:embeddedFont>
      <p:font typeface="Neuton Light"/>
      <p:regular r:id="rId20"/>
      <p:bold r:id="rId21"/>
      <p:boldItalic r:id="rId22"/>
    </p:embeddedFont>
    <p:embeddedFont>
      <p:font typeface="Hanken Grotesk"/>
      <p:regular r:id="rId23"/>
      <p:bold r:id="rId24"/>
      <p:italic r:id="rId25"/>
      <p:boldItalic r:id="rId26"/>
    </p:embeddedFont>
    <p:embeddedFont>
      <p:font typeface="Hanken Grotesk SemiBold"/>
      <p:regular r:id="rId27"/>
      <p:bold r:id="rId28"/>
      <p:italic r:id="rId29"/>
      <p:boldItalic r:id="rId30"/>
    </p:embeddedFont>
    <p:embeddedFont>
      <p:font typeface="Neuton"/>
      <p:regular r:id="rId31"/>
      <p:bold r:id="rId32"/>
      <p:italic r:id="rId33"/>
    </p:embeddedFont>
    <p:embeddedFont>
      <p:font typeface="Hanken Grotesk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eutonLight-regular.fntdata"/><Relationship Id="rId22" Type="http://schemas.openxmlformats.org/officeDocument/2006/relationships/font" Target="fonts/NeutonLight-boldItalic.fntdata"/><Relationship Id="rId21" Type="http://schemas.openxmlformats.org/officeDocument/2006/relationships/font" Target="fonts/NeutonLight-bold.fntdata"/><Relationship Id="rId24" Type="http://schemas.openxmlformats.org/officeDocument/2006/relationships/font" Target="fonts/HankenGrotesk-bold.fntdata"/><Relationship Id="rId23" Type="http://schemas.openxmlformats.org/officeDocument/2006/relationships/font" Target="fonts/HankenGrotes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ankenGrotesk-boldItalic.fntdata"/><Relationship Id="rId25" Type="http://schemas.openxmlformats.org/officeDocument/2006/relationships/font" Target="fonts/HankenGrotesk-italic.fntdata"/><Relationship Id="rId28" Type="http://schemas.openxmlformats.org/officeDocument/2006/relationships/font" Target="fonts/HankenGroteskSemiBold-bold.fntdata"/><Relationship Id="rId27" Type="http://schemas.openxmlformats.org/officeDocument/2006/relationships/font" Target="fonts/HankenGrotesk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nkenGrotesk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uton-regular.fntdata"/><Relationship Id="rId30" Type="http://schemas.openxmlformats.org/officeDocument/2006/relationships/font" Target="fonts/HankenGrotesk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Neuton-italic.fntdata"/><Relationship Id="rId10" Type="http://schemas.openxmlformats.org/officeDocument/2006/relationships/slide" Target="slides/slide5.xml"/><Relationship Id="rId32" Type="http://schemas.openxmlformats.org/officeDocument/2006/relationships/font" Target="fonts/Neuton-bold.fntdata"/><Relationship Id="rId13" Type="http://schemas.openxmlformats.org/officeDocument/2006/relationships/slide" Target="slides/slide8.xml"/><Relationship Id="rId35" Type="http://schemas.openxmlformats.org/officeDocument/2006/relationships/font" Target="fonts/HankenGroteskLight-bold.fntdata"/><Relationship Id="rId12" Type="http://schemas.openxmlformats.org/officeDocument/2006/relationships/slide" Target="slides/slide7.xml"/><Relationship Id="rId34" Type="http://schemas.openxmlformats.org/officeDocument/2006/relationships/font" Target="fonts/HankenGroteskLight-regular.fntdata"/><Relationship Id="rId15" Type="http://schemas.openxmlformats.org/officeDocument/2006/relationships/slide" Target="slides/slide10.xml"/><Relationship Id="rId37" Type="http://schemas.openxmlformats.org/officeDocument/2006/relationships/font" Target="fonts/HankenGrotesk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HankenGroteskLight-italic.fntdata"/><Relationship Id="rId17" Type="http://schemas.openxmlformats.org/officeDocument/2006/relationships/font" Target="fonts/HankenGroteskMedium-bold.fntdata"/><Relationship Id="rId16" Type="http://schemas.openxmlformats.org/officeDocument/2006/relationships/font" Target="fonts/HankenGroteskMedium-regular.fntdata"/><Relationship Id="rId19" Type="http://schemas.openxmlformats.org/officeDocument/2006/relationships/font" Target="fonts/HankenGroteskMedium-boldItalic.fntdata"/><Relationship Id="rId18" Type="http://schemas.openxmlformats.org/officeDocument/2006/relationships/font" Target="fonts/HankenGrotesk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b8737309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b8737309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87373099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b87373099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87373099c_0_1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b87373099c_0_1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b87373099c_0_1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b87373099c_0_1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b87373099c_0_1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b87373099c_0_1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b87373099c_0_1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b87373099c_0_1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b87373099c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b87373099c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b87373099c_0_1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b87373099c_0_1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b87373099c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b87373099c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b87373099c_0_1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b87373099c_0_1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 txBox="1"/>
          <p:nvPr/>
        </p:nvSpPr>
        <p:spPr>
          <a:xfrm>
            <a:off x="958875" y="776475"/>
            <a:ext cx="7425900" cy="3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Title Slide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Topic:</a:t>
            </a:r>
            <a:r>
              <a:rPr lang="en" sz="1800">
                <a:solidFill>
                  <a:schemeClr val="dk1"/>
                </a:solidFill>
              </a:rPr>
              <a:t> Canonical LR Parser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Course:</a:t>
            </a:r>
            <a:r>
              <a:rPr lang="en" sz="1800">
                <a:solidFill>
                  <a:schemeClr val="dk1"/>
                </a:solidFill>
              </a:rPr>
              <a:t> Principles of Compiler Design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Name: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i="1" lang="en" sz="1800">
                <a:solidFill>
                  <a:schemeClr val="dk1"/>
                </a:solidFill>
              </a:rPr>
              <a:t>Nebula</a:t>
            </a:r>
            <a:r>
              <a:rPr i="1" lang="en" sz="1800">
                <a:solidFill>
                  <a:schemeClr val="dk1"/>
                </a:solidFill>
              </a:rPr>
              <a:t> Salh</a:t>
            </a:r>
            <a:br>
              <a:rPr i="1" lang="en" sz="1800">
                <a:solidFill>
                  <a:schemeClr val="dk1"/>
                </a:solidFill>
              </a:rPr>
            </a:br>
            <a:endParaRPr i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Student ID: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i="1" lang="en" sz="1800">
                <a:solidFill>
                  <a:schemeClr val="dk1"/>
                </a:solidFill>
              </a:rPr>
              <a:t>1602936</a:t>
            </a:r>
            <a:br>
              <a:rPr i="1" lang="en" sz="1800">
                <a:solidFill>
                  <a:schemeClr val="dk1"/>
                </a:solidFill>
              </a:rPr>
            </a:b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8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 Introduction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Syntax analysis checks whether input follows grammar rules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LR parsers are </a:t>
            </a:r>
            <a:r>
              <a:rPr b="1" lang="en" sz="1800">
                <a:solidFill>
                  <a:schemeClr val="dk1"/>
                </a:solidFill>
              </a:rPr>
              <a:t>bottom-up parsers</a:t>
            </a:r>
            <a:r>
              <a:rPr lang="en" sz="1800">
                <a:solidFill>
                  <a:schemeClr val="dk1"/>
                </a:solidFill>
              </a:rPr>
              <a:t> used in compiler design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Canonical LR parser is the </a:t>
            </a:r>
            <a:r>
              <a:rPr b="1" lang="en" sz="1800">
                <a:solidFill>
                  <a:schemeClr val="dk1"/>
                </a:solidFill>
              </a:rPr>
              <a:t>most powerful LR parsing technique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It is also known as the </a:t>
            </a:r>
            <a:r>
              <a:rPr b="1" lang="en" sz="1800">
                <a:solidFill>
                  <a:schemeClr val="dk1"/>
                </a:solidFill>
              </a:rPr>
              <a:t>LR(1) parser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9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Definition of Canonical LR Parser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 Canonical LR parser uses </a:t>
            </a:r>
            <a:r>
              <a:rPr b="1" lang="en" sz="1800">
                <a:solidFill>
                  <a:schemeClr val="dk1"/>
                </a:solidFill>
              </a:rPr>
              <a:t>LR(1) items</a:t>
            </a:r>
            <a:r>
              <a:rPr lang="en" sz="1800">
                <a:solidFill>
                  <a:schemeClr val="dk1"/>
                </a:solidFill>
              </a:rPr>
              <a:t> for parsing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It reads input </a:t>
            </a:r>
            <a:r>
              <a:rPr b="1" lang="en" sz="1800">
                <a:solidFill>
                  <a:schemeClr val="dk1"/>
                </a:solidFill>
              </a:rPr>
              <a:t>Left to right</a:t>
            </a:r>
            <a:r>
              <a:rPr lang="en" sz="1800">
                <a:solidFill>
                  <a:schemeClr val="dk1"/>
                </a:solidFill>
              </a:rPr>
              <a:t> and produces </a:t>
            </a:r>
            <a:r>
              <a:rPr b="1" lang="en" sz="1800">
                <a:solidFill>
                  <a:schemeClr val="dk1"/>
                </a:solidFill>
              </a:rPr>
              <a:t>Rightmost derivation in reverse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Uses </a:t>
            </a:r>
            <a:r>
              <a:rPr b="1" lang="en" sz="1800">
                <a:solidFill>
                  <a:schemeClr val="dk1"/>
                </a:solidFill>
              </a:rPr>
              <a:t>one lookahead symbol</a:t>
            </a:r>
            <a:r>
              <a:rPr lang="en" sz="1800">
                <a:solidFill>
                  <a:schemeClr val="dk1"/>
                </a:solidFill>
              </a:rPr>
              <a:t> to make parsing decisions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Handles a wide class of context-free grammars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0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Key Characteristics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Uses </a:t>
            </a:r>
            <a:r>
              <a:rPr b="1" lang="en" sz="1800">
                <a:solidFill>
                  <a:schemeClr val="dk1"/>
                </a:solidFill>
              </a:rPr>
              <a:t>shift, reduce, accept, and error</a:t>
            </a:r>
            <a:r>
              <a:rPr lang="en" sz="1800">
                <a:solidFill>
                  <a:schemeClr val="dk1"/>
                </a:solidFill>
              </a:rPr>
              <a:t> actions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Constructed using </a:t>
            </a:r>
            <a:r>
              <a:rPr b="1" lang="en" sz="1800">
                <a:solidFill>
                  <a:schemeClr val="dk1"/>
                </a:solidFill>
              </a:rPr>
              <a:t>Canonical LR(1) item sets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Requires </a:t>
            </a:r>
            <a:r>
              <a:rPr b="1" lang="en" sz="1800">
                <a:solidFill>
                  <a:schemeClr val="dk1"/>
                </a:solidFill>
              </a:rPr>
              <a:t>ACTION and GOTO parsing tables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Very powerful but </a:t>
            </a:r>
            <a:r>
              <a:rPr b="1" lang="en" sz="1800">
                <a:solidFill>
                  <a:schemeClr val="dk1"/>
                </a:solidFill>
              </a:rPr>
              <a:t>large table size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1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Working Principle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Input symbols are read one by one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Parser maintains a </a:t>
            </a:r>
            <a:r>
              <a:rPr b="1" lang="en" sz="1800">
                <a:solidFill>
                  <a:schemeClr val="dk1"/>
                </a:solidFill>
              </a:rPr>
              <a:t>stack</a:t>
            </a:r>
            <a:r>
              <a:rPr lang="en" sz="1800">
                <a:solidFill>
                  <a:schemeClr val="dk1"/>
                </a:solidFill>
              </a:rPr>
              <a:t> of states and grammar symbols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Actions are chosen based on </a:t>
            </a:r>
            <a:r>
              <a:rPr b="1" lang="en" sz="1800">
                <a:solidFill>
                  <a:schemeClr val="dk1"/>
                </a:solidFill>
              </a:rPr>
              <a:t>current state and lookahead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Parsing continues until the input is </a:t>
            </a:r>
            <a:r>
              <a:rPr b="1" lang="en" sz="1800">
                <a:solidFill>
                  <a:schemeClr val="dk1"/>
                </a:solidFill>
              </a:rPr>
              <a:t>accepted or rejected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2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Advantages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Can parse </a:t>
            </a:r>
            <a:r>
              <a:rPr b="1" lang="en" sz="1800">
                <a:solidFill>
                  <a:schemeClr val="dk1"/>
                </a:solidFill>
              </a:rPr>
              <a:t>almost all deterministic CFGs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Avoids ambiguity better than LL and SLR parsers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More accurate due to </a:t>
            </a:r>
            <a:r>
              <a:rPr b="1" lang="en" sz="1800">
                <a:solidFill>
                  <a:schemeClr val="dk1"/>
                </a:solidFill>
              </a:rPr>
              <a:t>lookahead symbol usage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Suitable for complex programming language grammars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3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Disadvantages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Parsing tables are </a:t>
            </a:r>
            <a:r>
              <a:rPr b="1" lang="en" sz="1800">
                <a:solidFill>
                  <a:schemeClr val="dk1"/>
                </a:solidFill>
              </a:rPr>
              <a:t>very large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Complex to construct manually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High </a:t>
            </a:r>
            <a:r>
              <a:rPr b="1" lang="en" sz="1800">
                <a:solidFill>
                  <a:schemeClr val="dk1"/>
                </a:solidFill>
              </a:rPr>
              <a:t>memory requirements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Often replaced by </a:t>
            </a:r>
            <a:r>
              <a:rPr b="1" lang="en" sz="1800">
                <a:solidFill>
                  <a:schemeClr val="dk1"/>
                </a:solidFill>
              </a:rPr>
              <a:t>LALR parsers</a:t>
            </a:r>
            <a:r>
              <a:rPr lang="en" sz="1800">
                <a:solidFill>
                  <a:schemeClr val="dk1"/>
                </a:solidFill>
              </a:rPr>
              <a:t> in practice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4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Applications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Used in </a:t>
            </a:r>
            <a:r>
              <a:rPr b="1" lang="en" sz="1800">
                <a:solidFill>
                  <a:schemeClr val="dk1"/>
                </a:solidFill>
              </a:rPr>
              <a:t>compiler construction theory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Basis for understanding </a:t>
            </a:r>
            <a:r>
              <a:rPr b="1" lang="en" sz="1800">
                <a:solidFill>
                  <a:schemeClr val="dk1"/>
                </a:solidFill>
              </a:rPr>
              <a:t>LALR and SLR parsers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Helps analyze complex grammar conflicts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Important for advanced syntax analysis concepts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5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Conclusion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Canonical LR parser is the </a:t>
            </a:r>
            <a:r>
              <a:rPr b="1" lang="en" sz="1800">
                <a:solidFill>
                  <a:schemeClr val="dk1"/>
                </a:solidFill>
              </a:rPr>
              <a:t>most powerful LR parser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Uses </a:t>
            </a:r>
            <a:r>
              <a:rPr b="1" lang="en" sz="1800">
                <a:solidFill>
                  <a:schemeClr val="dk1"/>
                </a:solidFill>
              </a:rPr>
              <a:t>LR(1) items with lookahead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Provides accurate and conflict-free parsing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Foundation for modern bottom-up parsing techniques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6"/>
          <p:cNvSpPr txBox="1"/>
          <p:nvPr/>
        </p:nvSpPr>
        <p:spPr>
          <a:xfrm>
            <a:off x="880700" y="713950"/>
            <a:ext cx="73323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References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Aho, Lam, Sethi, Ullman – </a:t>
            </a:r>
            <a:r>
              <a:rPr i="1" lang="en" sz="1800">
                <a:solidFill>
                  <a:schemeClr val="dk1"/>
                </a:solidFill>
              </a:rPr>
              <a:t>Compilers: Principles, Techniques &amp; Tools</a:t>
            </a:r>
            <a:br>
              <a:rPr i="1" lang="en" sz="1800">
                <a:solidFill>
                  <a:schemeClr val="dk1"/>
                </a:solidFill>
              </a:rPr>
            </a:br>
            <a:endParaRPr i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Alfred V. Aho – </a:t>
            </a:r>
            <a:r>
              <a:rPr i="1" lang="en" sz="1800">
                <a:solidFill>
                  <a:schemeClr val="dk1"/>
                </a:solidFill>
              </a:rPr>
              <a:t>Syntax Analysis</a:t>
            </a:r>
            <a:br>
              <a:rPr i="1" lang="en" sz="1800">
                <a:solidFill>
                  <a:schemeClr val="dk1"/>
                </a:solidFill>
              </a:rPr>
            </a:br>
            <a:endParaRPr i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GeeksforGeeks – LR Parsing Techniques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